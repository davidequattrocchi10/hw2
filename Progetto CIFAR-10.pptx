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10"/>
      <p:bold r:id="rId11"/>
      <p:italic r:id="rId12"/>
      <p:boldItalic r:id="rId13"/>
    </p:embeddedFont>
    <p:embeddedFont>
      <p:font typeface="Roboto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B4782E-489D-461F-AE3C-5247555E5E28}">
  <a:tblStyle styleId="{21B4782E-489D-461F-AE3C-5247555E5E2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53eed58ce5_0_1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53eed58ce5_0_1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3f0918a0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3f0918a0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53f0918a0b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53f0918a0b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53f0918a0b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53f0918a0b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53f0918a0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53f0918a0b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53f0918a0b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53f0918a0b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53f0918a0b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53f0918a0b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>
            <a:spLocks noGrp="1"/>
          </p:cNvSpPr>
          <p:nvPr>
            <p:ph type="ctrTitle"/>
          </p:nvPr>
        </p:nvSpPr>
        <p:spPr>
          <a:xfrm>
            <a:off x="2143275" y="135400"/>
            <a:ext cx="4702800" cy="18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it" sz="22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CLASSIFICAZIONE DI IMMAGINI </a:t>
            </a:r>
            <a:endParaRPr sz="22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2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 MODELLI DI MACHINE LEARNING</a:t>
            </a:r>
            <a:endParaRPr sz="22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1370025" y="1319525"/>
            <a:ext cx="6249300" cy="271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L’obiettivo del progetto è sviluppare un modello in grado di classificare correttamente immagini a colori in 10 classi, confrontando diverse tecniche di ML.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3"/>
          <p:cNvSpPr txBox="1"/>
          <p:nvPr/>
        </p:nvSpPr>
        <p:spPr>
          <a:xfrm>
            <a:off x="5817775" y="4032125"/>
            <a:ext cx="29940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lt1"/>
                </a:solidFill>
                <a:highlight>
                  <a:schemeClr val="dk1"/>
                </a:highlight>
                <a:latin typeface="Roboto"/>
                <a:ea typeface="Roboto"/>
                <a:cs typeface="Roboto"/>
                <a:sym typeface="Roboto"/>
              </a:rPr>
              <a:t>Quattrocchi Davide</a:t>
            </a:r>
            <a:endParaRPr sz="1600">
              <a:solidFill>
                <a:schemeClr val="lt1"/>
              </a:solidFill>
              <a:highlight>
                <a:schemeClr val="dk1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lt1"/>
                </a:solidFill>
                <a:highlight>
                  <a:schemeClr val="dk1"/>
                </a:highlight>
                <a:latin typeface="Roboto"/>
                <a:ea typeface="Roboto"/>
                <a:cs typeface="Roboto"/>
                <a:sym typeface="Roboto"/>
              </a:rPr>
              <a:t>Corso: Machine Learning </a:t>
            </a:r>
            <a:endParaRPr sz="1600">
              <a:solidFill>
                <a:schemeClr val="lt1"/>
              </a:solidFill>
              <a:highlight>
                <a:schemeClr val="dk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/>
        </p:nvSpPr>
        <p:spPr>
          <a:xfrm>
            <a:off x="2658750" y="0"/>
            <a:ext cx="3826500" cy="7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it" sz="2200" b="1" dirty="0">
                <a:latin typeface="Calibri"/>
                <a:ea typeface="Calibri"/>
                <a:cs typeface="Calibri"/>
                <a:sym typeface="Calibri"/>
              </a:rPr>
              <a:t>DATASET UTILIZZATO CIFAR-10</a:t>
            </a:r>
            <a:endParaRPr sz="2200" dirty="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307850" y="623108"/>
            <a:ext cx="5391900" cy="252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Calibri"/>
              <a:buChar char="●"/>
            </a:pPr>
            <a:r>
              <a:rPr lang="it" sz="1700" dirty="0">
                <a:latin typeface="Calibri"/>
                <a:ea typeface="Calibri"/>
                <a:cs typeface="Calibri"/>
                <a:sym typeface="Calibri"/>
              </a:rPr>
              <a:t>CIFAR-10 è un dataset molto usato nella Computer Vision.</a:t>
            </a:r>
            <a:endParaRPr sz="1700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 dirty="0">
                <a:latin typeface="Calibri"/>
                <a:ea typeface="Calibri"/>
                <a:cs typeface="Calibri"/>
                <a:sym typeface="Calibri"/>
              </a:rPr>
              <a:t>Contiene </a:t>
            </a:r>
            <a:r>
              <a:rPr lang="it" sz="1700" b="1" dirty="0">
                <a:latin typeface="Calibri"/>
                <a:ea typeface="Calibri"/>
                <a:cs typeface="Calibri"/>
                <a:sym typeface="Calibri"/>
              </a:rPr>
              <a:t>60.000 immagini a colori</a:t>
            </a:r>
            <a:r>
              <a:rPr lang="it" sz="1700" dirty="0">
                <a:latin typeface="Calibri"/>
                <a:ea typeface="Calibri"/>
                <a:cs typeface="Calibri"/>
                <a:sym typeface="Calibri"/>
              </a:rPr>
              <a:t> (32x32 pixel), suddivise in:</a:t>
            </a:r>
            <a:endParaRPr sz="17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Calibri"/>
              <a:buChar char="○"/>
            </a:pPr>
            <a:r>
              <a:rPr lang="it" sz="1700" b="1" dirty="0">
                <a:latin typeface="Calibri"/>
                <a:ea typeface="Calibri"/>
                <a:cs typeface="Calibri"/>
                <a:sym typeface="Calibri"/>
              </a:rPr>
              <a:t>50.000 immagini per il training</a:t>
            </a:r>
            <a:endParaRPr sz="1700" b="1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Calibri"/>
              <a:buChar char="○"/>
            </a:pPr>
            <a:r>
              <a:rPr lang="it" sz="1700" b="1" dirty="0">
                <a:latin typeface="Calibri"/>
                <a:ea typeface="Calibri"/>
                <a:cs typeface="Calibri"/>
                <a:sym typeface="Calibri"/>
              </a:rPr>
              <a:t>10.000 immagini per il test</a:t>
            </a:r>
            <a:endParaRPr sz="1700" b="1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it" sz="1700" dirty="0">
                <a:latin typeface="Calibri"/>
                <a:ea typeface="Calibri"/>
                <a:cs typeface="Calibri"/>
                <a:sym typeface="Calibri"/>
              </a:rPr>
              <a:t>Ogni immagine appartiene a una delle </a:t>
            </a:r>
            <a:r>
              <a:rPr lang="it" sz="1700" b="1" dirty="0">
                <a:latin typeface="Calibri"/>
                <a:ea typeface="Calibri"/>
                <a:cs typeface="Calibri"/>
                <a:sym typeface="Calibri"/>
              </a:rPr>
              <a:t>10 classi:</a:t>
            </a:r>
            <a:endParaRPr sz="17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300" dirty="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4798450" y="3032428"/>
            <a:ext cx="2174100" cy="18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  </a:t>
            </a: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0 → airplane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1 → automobile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2 → bird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3 → cat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4 → deer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endParaRPr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6972550" y="3043800"/>
            <a:ext cx="18636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5 –&gt; dog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6 → frog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7 → horse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8 → ship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 9 → truck</a:t>
            </a: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ctrTitle"/>
          </p:nvPr>
        </p:nvSpPr>
        <p:spPr>
          <a:xfrm>
            <a:off x="2316606" y="-137557"/>
            <a:ext cx="4169937" cy="5916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20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METODO E APPROCCIO ADOTTATO</a:t>
            </a:r>
            <a:endParaRPr sz="45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"/>
          </p:nvPr>
        </p:nvSpPr>
        <p:spPr>
          <a:xfrm>
            <a:off x="315156" y="444744"/>
            <a:ext cx="4002900" cy="15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Caricamento e preprocessing</a:t>
            </a:r>
            <a:endParaRPr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Unione dei 5 batch di training</a:t>
            </a:r>
            <a:endParaRPr sz="15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Normalizzazione pixel (0–1)</a:t>
            </a:r>
            <a:endParaRPr sz="15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Train/Validation split (80/20)</a:t>
            </a:r>
            <a:endParaRPr sz="15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Sotto-campionamento del training set per ridurre i tempi di esecuzione</a:t>
            </a:r>
            <a:endParaRPr sz="15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275"/>
              <a:buNone/>
            </a:pPr>
            <a:endParaRPr sz="400" dirty="0"/>
          </a:p>
        </p:txBody>
      </p:sp>
      <p:sp>
        <p:nvSpPr>
          <p:cNvPr id="81" name="Google Shape;81;p15"/>
          <p:cNvSpPr txBox="1"/>
          <p:nvPr/>
        </p:nvSpPr>
        <p:spPr>
          <a:xfrm>
            <a:off x="315156" y="2100352"/>
            <a:ext cx="3677400" cy="14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it" sz="1600" b="1" dirty="0">
                <a:latin typeface="Calibri"/>
                <a:ea typeface="Calibri"/>
                <a:cs typeface="Calibri"/>
                <a:sym typeface="Calibri"/>
              </a:rPr>
              <a:t>Modelli valutati</a:t>
            </a:r>
            <a:endParaRPr sz="1600" b="1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</a:pPr>
            <a:r>
              <a:rPr lang="it" sz="1500" dirty="0"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sz="15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</a:pPr>
            <a:r>
              <a:rPr lang="it" sz="1500" dirty="0">
                <a:latin typeface="Calibri"/>
                <a:ea typeface="Calibri"/>
                <a:cs typeface="Calibri"/>
                <a:sym typeface="Calibri"/>
              </a:rPr>
              <a:t>SVM</a:t>
            </a:r>
            <a:endParaRPr sz="15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</a:pPr>
            <a:r>
              <a:rPr lang="it" sz="1500" dirty="0">
                <a:latin typeface="Calibri"/>
                <a:ea typeface="Calibri"/>
                <a:cs typeface="Calibri"/>
                <a:sym typeface="Calibri"/>
              </a:rPr>
              <a:t>K-NN</a:t>
            </a:r>
            <a:endParaRPr sz="1500" dirty="0"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Calibri"/>
              <a:buChar char="○"/>
            </a:pPr>
            <a:r>
              <a:rPr lang="it" sz="1500" dirty="0">
                <a:latin typeface="Calibri"/>
                <a:ea typeface="Calibri"/>
                <a:cs typeface="Calibri"/>
                <a:sym typeface="Calibri"/>
              </a:rPr>
              <a:t>Decision Tree</a:t>
            </a:r>
            <a:endParaRPr sz="1700" dirty="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318056" y="454113"/>
            <a:ext cx="4947000" cy="16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it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Strategia</a:t>
            </a: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Prima valutazione base su tutti i modelli</a:t>
            </a:r>
            <a:endParaRPr sz="15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Scelta del migliore (SVM)</a:t>
            </a: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Char char="○"/>
            </a:pPr>
            <a:r>
              <a:rPr lang="it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Ottimizzazione dell’iperparametro C con GridSearchCV (cv=5)</a:t>
            </a:r>
            <a:br>
              <a:rPr lang="it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it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7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 txBox="1"/>
          <p:nvPr/>
        </p:nvSpPr>
        <p:spPr>
          <a:xfrm>
            <a:off x="4318056" y="2100352"/>
            <a:ext cx="4174500" cy="18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it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Modello finale</a:t>
            </a:r>
            <a:endParaRPr sz="16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</a:pPr>
            <a:endParaRPr sz="15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</a:pPr>
            <a:r>
              <a:rPr lang="it" sz="15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SVM lineare, C=0.1, allenato su train+val, valutato su test</a:t>
            </a:r>
            <a:endParaRPr sz="1300" dirty="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>
            <a:spLocks noGrp="1"/>
          </p:cNvSpPr>
          <p:nvPr>
            <p:ph type="ctrTitle"/>
          </p:nvPr>
        </p:nvSpPr>
        <p:spPr>
          <a:xfrm>
            <a:off x="2425976" y="-4848"/>
            <a:ext cx="4507200" cy="47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20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CONFRONTO TRA I MODELLI TESTATI</a:t>
            </a:r>
            <a:endParaRPr sz="44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"/>
          </p:nvPr>
        </p:nvSpPr>
        <p:spPr>
          <a:xfrm>
            <a:off x="126067" y="490067"/>
            <a:ext cx="5987700" cy="246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3502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Sono stati testati quattro modelli di classificazione: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○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○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K-Nearest Neighbors (K-NN)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○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Decision Tree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○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Support Vector Machine (SVM)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Sono state valutate le prestazioni su </a:t>
            </a: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training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validation set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 metriche utilizzate sono: </a:t>
            </a: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 </a:t>
            </a: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F1-score macro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3502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Calibri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SVM ha mostrato le performance migliori.</a:t>
            </a:r>
            <a:endParaRPr sz="1000" dirty="0"/>
          </a:p>
        </p:txBody>
      </p:sp>
      <p:graphicFrame>
        <p:nvGraphicFramePr>
          <p:cNvPr id="90" name="Google Shape;90;p16"/>
          <p:cNvGraphicFramePr/>
          <p:nvPr>
            <p:extLst>
              <p:ext uri="{D42A27DB-BD31-4B8C-83A1-F6EECF244321}">
                <p14:modId xmlns:p14="http://schemas.microsoft.com/office/powerpoint/2010/main" val="183760728"/>
              </p:ext>
            </p:extLst>
          </p:nvPr>
        </p:nvGraphicFramePr>
        <p:xfrm>
          <a:off x="4572000" y="2923797"/>
          <a:ext cx="4445933" cy="2032829"/>
        </p:xfrm>
        <a:graphic>
          <a:graphicData uri="http://schemas.openxmlformats.org/drawingml/2006/table">
            <a:tbl>
              <a:tblPr>
                <a:noFill/>
                <a:tableStyleId>{21B4782E-489D-461F-AE3C-5247555E5E28}</a:tableStyleId>
              </a:tblPr>
              <a:tblGrid>
                <a:gridCol w="18145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37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6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1601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b="1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Modello</a:t>
                      </a:r>
                      <a:endParaRPr b="1"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Accuracy (val)</a:t>
                      </a:r>
                      <a:endParaRPr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b="1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F1-score (val)</a:t>
                      </a:r>
                      <a:endParaRPr b="1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39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Logistic Regression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35.4%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35.2%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SVM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b="1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48.0%</a:t>
                      </a:r>
                      <a:endParaRPr b="1"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b="1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47.7%</a:t>
                      </a:r>
                      <a:endParaRPr b="1"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K-NN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29.4%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27.4%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65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Decision Tree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24.0%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24.0%</a:t>
                      </a:r>
                      <a:endParaRPr dirty="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ctrTitle"/>
          </p:nvPr>
        </p:nvSpPr>
        <p:spPr>
          <a:xfrm>
            <a:off x="1877474" y="-29850"/>
            <a:ext cx="5743701" cy="8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22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OTTIMIZZAZIONE</a:t>
            </a:r>
            <a:r>
              <a:rPr lang="it" sz="20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it" sz="22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DELL’SVM CON GRIDSEARCHCV</a:t>
            </a:r>
            <a:endParaRPr sz="44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1"/>
          </p:nvPr>
        </p:nvSpPr>
        <p:spPr>
          <a:xfrm>
            <a:off x="160958" y="641850"/>
            <a:ext cx="7105568" cy="19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Calibri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Dopo la valutazione iniziale, l’SVM è risultato il miglior modello.</a:t>
            </a:r>
            <a:b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È stato quindi ottimizzato con </a:t>
            </a:r>
            <a:r>
              <a:rPr lang="it" dirty="0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GridSearchCV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, variando l'iperparametro </a:t>
            </a:r>
            <a:r>
              <a:rPr lang="it" dirty="0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È stato mantenuto il kernel </a:t>
            </a:r>
            <a:r>
              <a:rPr lang="it" dirty="0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linear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per ridurre il costo computazionale.</a:t>
            </a:r>
            <a:b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 ricerca è stata eseguita con </a:t>
            </a: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5-fold cross-validation</a:t>
            </a:r>
            <a:r>
              <a:rPr lang="it" sz="15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4749325" y="2988525"/>
            <a:ext cx="4394700" cy="1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Risultato della ricerca</a:t>
            </a:r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it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Miglior configurazione: C = 0.1, kernel = 'linear'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it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Best validation accuracy (media CV): </a:t>
            </a:r>
            <a:r>
              <a:rPr lang="it" sz="15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36.7%</a:t>
            </a:r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it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Accuracy su validation set reale: </a:t>
            </a:r>
            <a:r>
              <a:rPr lang="it" sz="15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37.5%</a:t>
            </a:r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</a:pPr>
            <a:r>
              <a:rPr lang="it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F1-score su validation: </a:t>
            </a:r>
            <a:r>
              <a:rPr lang="it" sz="15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37.5%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>
            <a:spLocks noGrp="1"/>
          </p:cNvSpPr>
          <p:nvPr>
            <p:ph type="ctrTitle"/>
          </p:nvPr>
        </p:nvSpPr>
        <p:spPr>
          <a:xfrm>
            <a:off x="2690822" y="0"/>
            <a:ext cx="3762355" cy="64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 sz="20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RISULTATI FINALI SUL TEST SET</a:t>
            </a:r>
            <a:endParaRPr sz="44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 txBox="1">
            <a:spLocks noGrp="1"/>
          </p:cNvSpPr>
          <p:nvPr>
            <p:ph type="subTitle" idx="1"/>
          </p:nvPr>
        </p:nvSpPr>
        <p:spPr>
          <a:xfrm>
            <a:off x="502367" y="608700"/>
            <a:ext cx="7985700" cy="3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Il modello finale (SVM lineare con </a:t>
            </a:r>
            <a:r>
              <a:rPr lang="it" dirty="0">
                <a:solidFill>
                  <a:srgbClr val="188038"/>
                </a:solidFill>
                <a:latin typeface="Calibri"/>
                <a:ea typeface="Calibri"/>
                <a:cs typeface="Calibri"/>
                <a:sym typeface="Calibri"/>
              </a:rPr>
              <a:t>C=0.1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) è stato allenato su tutto il dataset (train + validation).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È stato testato sul test set ufficiale di CIFAR-10 (10.000 immagini mai viste).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Risultati ottenuti:</a:t>
            </a:r>
            <a:endParaRPr b="1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Accuracy: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41.0%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F1-score macro: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40.9%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Classi più difficili: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bird, cat, deer, dog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●"/>
            </a:pPr>
            <a:r>
              <a:rPr lang="it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Classe più semplice:</a:t>
            </a: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ship</a:t>
            </a:r>
            <a:endParaRPr sz="21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>
            <a:spLocks noGrp="1"/>
          </p:cNvSpPr>
          <p:nvPr>
            <p:ph type="ctrTitle"/>
          </p:nvPr>
        </p:nvSpPr>
        <p:spPr>
          <a:xfrm>
            <a:off x="2535575" y="67625"/>
            <a:ext cx="3940800" cy="51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 dirty="0">
                <a:latin typeface="Calibri"/>
                <a:ea typeface="Calibri"/>
                <a:cs typeface="Calibri"/>
                <a:sym typeface="Calibri"/>
              </a:rPr>
              <a:t>ESEMPIO DI ERRORE DEL MODELLO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9"/>
          <p:cNvSpPr txBox="1">
            <a:spLocks noGrp="1"/>
          </p:cNvSpPr>
          <p:nvPr>
            <p:ph type="subTitle" idx="1"/>
          </p:nvPr>
        </p:nvSpPr>
        <p:spPr>
          <a:xfrm>
            <a:off x="478201" y="578225"/>
            <a:ext cx="8031097" cy="7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t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 seguito è mostrata un’immagine del test set che il modello ha classificato erroneamente.</a:t>
            </a:r>
            <a:endParaRPr dirty="0"/>
          </a:p>
        </p:txBody>
      </p:sp>
      <p:pic>
        <p:nvPicPr>
          <p:cNvPr id="110" name="Google Shape;11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2349" y="1597075"/>
            <a:ext cx="3727251" cy="324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490</Words>
  <Application>Microsoft Office PowerPoint</Application>
  <PresentationFormat>Presentazione su schermo (16:9)</PresentationFormat>
  <Paragraphs>84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Merriweather</vt:lpstr>
      <vt:lpstr>Calibri</vt:lpstr>
      <vt:lpstr>Arial</vt:lpstr>
      <vt:lpstr>Roboto</vt:lpstr>
      <vt:lpstr>Paradigm</vt:lpstr>
      <vt:lpstr>      CLASSIFICAZIONE DI IMMAGINI  CON MODELLI DI MACHINE LEARNING </vt:lpstr>
      <vt:lpstr>Presentazione standard di PowerPoint</vt:lpstr>
      <vt:lpstr>METODO E APPROCCIO ADOTTATO</vt:lpstr>
      <vt:lpstr>CONFRONTO TRA I MODELLI TESTATI</vt:lpstr>
      <vt:lpstr>OTTIMIZZAZIONE DELL’SVM CON GRIDSEARCHCV</vt:lpstr>
      <vt:lpstr>RISULTATI FINALI SUL TEST SET</vt:lpstr>
      <vt:lpstr>ESEMPIO DI ERRORE DEL MODELLO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ANGELA ZANGLA 515477</cp:lastModifiedBy>
  <cp:revision>1</cp:revision>
  <dcterms:modified xsi:type="dcterms:W3CDTF">2025-05-03T13:00:13Z</dcterms:modified>
</cp:coreProperties>
</file>