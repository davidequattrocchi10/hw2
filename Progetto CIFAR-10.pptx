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erriweath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B4782E-489D-461F-AE3C-5247555E5E28}">
  <a:tblStyle styleId="{21B4782E-489D-461F-AE3C-5247555E5E2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Merriweath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3eed58ce5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3eed58ce5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3f0918a0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3f0918a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3f0918a0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3f0918a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3f0918a0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3f0918a0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3f0918a0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3f0918a0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3f0918a0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3f0918a0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3f0918a0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3f0918a0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2143275" y="135400"/>
            <a:ext cx="4702800" cy="18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it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CLASSIFICAZIONE DI IMMAGINI </a:t>
            </a:r>
            <a:endParaRPr b="1"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 MODELLI DI MACHINE LEARNING</a:t>
            </a:r>
            <a:endParaRPr b="1"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1370025" y="1319525"/>
            <a:ext cx="6249300" cy="27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L’obiettivo del progetto è s</a:t>
            </a:r>
            <a:r>
              <a:rPr lang="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viluppare un modello in grado di classificare correttamente immagini a colori in 10 classi, confrontando diverse tecniche di ML.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817775" y="4032125"/>
            <a:ext cx="29940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Quattrocchi Davide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Corso: Machine Learning 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>
            <a:off x="2724250" y="131050"/>
            <a:ext cx="38265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it" sz="2200">
                <a:latin typeface="Calibri"/>
                <a:ea typeface="Calibri"/>
                <a:cs typeface="Calibri"/>
                <a:sym typeface="Calibri"/>
              </a:rPr>
              <a:t>DATASET UTILIZZATO </a:t>
            </a:r>
            <a:r>
              <a:rPr b="1" lang="it" sz="2200">
                <a:latin typeface="Calibri"/>
                <a:ea typeface="Calibri"/>
                <a:cs typeface="Calibri"/>
                <a:sym typeface="Calibri"/>
              </a:rPr>
              <a:t>CIFAR-10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02175" y="752200"/>
            <a:ext cx="53919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it" sz="1700">
                <a:latin typeface="Calibri"/>
                <a:ea typeface="Calibri"/>
                <a:cs typeface="Calibri"/>
                <a:sym typeface="Calibri"/>
              </a:rPr>
              <a:t>CIFAR-10 è un dataset molto usato nella Computer Vision.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t" sz="1700">
                <a:latin typeface="Calibri"/>
                <a:ea typeface="Calibri"/>
                <a:cs typeface="Calibri"/>
                <a:sym typeface="Calibri"/>
              </a:rPr>
              <a:t>Contiene </a:t>
            </a:r>
            <a:r>
              <a:rPr b="1" lang="it" sz="1700">
                <a:latin typeface="Calibri"/>
                <a:ea typeface="Calibri"/>
                <a:cs typeface="Calibri"/>
                <a:sym typeface="Calibri"/>
              </a:rPr>
              <a:t>60.000 immagini a colori</a:t>
            </a:r>
            <a:r>
              <a:rPr lang="it" sz="1700">
                <a:latin typeface="Calibri"/>
                <a:ea typeface="Calibri"/>
                <a:cs typeface="Calibri"/>
                <a:sym typeface="Calibri"/>
              </a:rPr>
              <a:t> (32x32 pixel), suddivise in: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b="1" lang="it" sz="1700">
                <a:latin typeface="Calibri"/>
                <a:ea typeface="Calibri"/>
                <a:cs typeface="Calibri"/>
                <a:sym typeface="Calibri"/>
              </a:rPr>
              <a:t>50.000 immagini per il training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b="1" lang="it" sz="1700">
                <a:latin typeface="Calibri"/>
                <a:ea typeface="Calibri"/>
                <a:cs typeface="Calibri"/>
                <a:sym typeface="Calibri"/>
              </a:rPr>
              <a:t>10.000 immagini per il test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t" sz="1700">
                <a:latin typeface="Calibri"/>
                <a:ea typeface="Calibri"/>
                <a:cs typeface="Calibri"/>
                <a:sym typeface="Calibri"/>
              </a:rPr>
              <a:t>Ogni immagine appartiene a una delle </a:t>
            </a:r>
            <a:r>
              <a:rPr b="1" lang="it" sz="1700">
                <a:latin typeface="Calibri"/>
                <a:ea typeface="Calibri"/>
                <a:cs typeface="Calibri"/>
                <a:sym typeface="Calibri"/>
              </a:rPr>
              <a:t>10 classi: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662350" y="3038375"/>
            <a:ext cx="2174100" cy="18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0 → airplane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1 → automobile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2 → bird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3 → cat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4 → deer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6737150" y="3038375"/>
            <a:ext cx="1863600" cy="20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–&gt; dog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6 → frog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7 → horse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8 → ship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9 → truck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ctrTitle"/>
          </p:nvPr>
        </p:nvSpPr>
        <p:spPr>
          <a:xfrm>
            <a:off x="2564350" y="179400"/>
            <a:ext cx="3874500" cy="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METODO E APPROCCIO ADOTTATO</a:t>
            </a:r>
            <a:endParaRPr b="1" sz="4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>
            <p:ph idx="1" type="subTitle"/>
          </p:nvPr>
        </p:nvSpPr>
        <p:spPr>
          <a:xfrm>
            <a:off x="398675" y="636100"/>
            <a:ext cx="4002900" cy="15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1"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Caricamento e preprocessing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Unione dei 5 batch di training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Normalizzazione pixel (0–1)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Train/Validation split (80/20)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○"/>
            </a:pP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Sotto-campionamento del training set per ridurre i tempi di esecuzione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400"/>
          </a:p>
        </p:txBody>
      </p:sp>
      <p:sp>
        <p:nvSpPr>
          <p:cNvPr id="81" name="Google Shape;81;p15"/>
          <p:cNvSpPr txBox="1"/>
          <p:nvPr/>
        </p:nvSpPr>
        <p:spPr>
          <a:xfrm>
            <a:off x="398675" y="2342450"/>
            <a:ext cx="3677400" cy="14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it" sz="1600">
                <a:latin typeface="Calibri"/>
                <a:ea typeface="Calibri"/>
                <a:cs typeface="Calibri"/>
                <a:sym typeface="Calibri"/>
              </a:rPr>
              <a:t>Modelli valutati: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SVM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K-NN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197000" y="636100"/>
            <a:ext cx="4947000" cy="16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Strategia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i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 valutazione base su tutti i modelli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i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Scelta del migliore (SVM)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Ottimizzazione dell’iperparametro C con GridSearchCV (cv=5)</a:t>
            </a:r>
            <a:br>
              <a:rPr lang="i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197000" y="2342475"/>
            <a:ext cx="41745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Modello finale: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it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SVM lineare, C=0.1, allenato su train+val, valutato su test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ctrTitle"/>
          </p:nvPr>
        </p:nvSpPr>
        <p:spPr>
          <a:xfrm>
            <a:off x="2317000" y="179450"/>
            <a:ext cx="4507200" cy="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CONFRONTO TRA I MODELLI TESTATI</a:t>
            </a:r>
            <a:endParaRPr b="1" sz="4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212325" y="723150"/>
            <a:ext cx="5987700" cy="24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3350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Sono stati testati quattro modelli di classificazione:</a:t>
            </a:r>
            <a:endParaRPr sz="23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50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○"/>
            </a:pP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23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50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○"/>
            </a:pP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K-Nearest Neighbors (K-NN)</a:t>
            </a:r>
            <a:endParaRPr sz="23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50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○"/>
            </a:pP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sz="23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50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○"/>
            </a:pP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 Vector Machine (SVM)</a:t>
            </a:r>
            <a:endParaRPr sz="23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50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Sono state valutate le prestazioni su </a:t>
            </a:r>
            <a:r>
              <a:rPr b="1"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validation set</a:t>
            </a: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3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50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metriche utilizzate sono: </a:t>
            </a:r>
            <a:r>
              <a:rPr b="1"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F1-score macro</a:t>
            </a: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3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50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●"/>
            </a:pPr>
            <a:r>
              <a:rPr lang="it" sz="23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SVM ha mostrato le performance migliori.</a:t>
            </a:r>
            <a:endParaRPr/>
          </a:p>
        </p:txBody>
      </p:sp>
      <p:graphicFrame>
        <p:nvGraphicFramePr>
          <p:cNvPr id="90" name="Google Shape;90;p16"/>
          <p:cNvGraphicFramePr/>
          <p:nvPr/>
        </p:nvGraphicFramePr>
        <p:xfrm>
          <a:off x="4253475" y="287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{21B4782E-489D-461F-AE3C-5247555E5E28}</a:tableStyleId>
              </a:tblPr>
              <a:tblGrid>
                <a:gridCol w="1946525"/>
                <a:gridCol w="1575775"/>
                <a:gridCol w="1467625"/>
              </a:tblGrid>
              <a:tr h="435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Modello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 (val)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 (val)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5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35.4%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35.2%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9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b="1"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48.0%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</a:t>
                      </a:r>
                      <a:r>
                        <a:rPr b="1"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47.7%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9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K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29.4%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27.4%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9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24.0%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</a:t>
                      </a:r>
                      <a:r>
                        <a:rPr lang="it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24.0%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ctrTitle"/>
          </p:nvPr>
        </p:nvSpPr>
        <p:spPr>
          <a:xfrm>
            <a:off x="1818925" y="253975"/>
            <a:ext cx="53655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OTTIMIZZAZIONE DELL’SVM CON GRIDSEARCHCV</a:t>
            </a:r>
            <a:endParaRPr b="1" sz="4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150200" y="872175"/>
            <a:ext cx="6624300" cy="19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Dopo la valutazione iniziale, l’SVM è risultato il miglior modello.</a:t>
            </a:r>
            <a:b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È stato quindi ottimizzato con </a:t>
            </a:r>
            <a:r>
              <a:rPr lang="it" sz="15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GridSearchCV</a:t>
            </a: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variando l'iperparametro </a:t>
            </a:r>
            <a:r>
              <a:rPr lang="it" sz="15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È stato mantenuto il kernel </a:t>
            </a:r>
            <a:r>
              <a:rPr lang="it" sz="15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per ridurre il costo computazionale.</a:t>
            </a:r>
            <a:b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ricerca è stata eseguita con </a:t>
            </a:r>
            <a:r>
              <a:rPr b="1"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5-fold cross-validation</a:t>
            </a:r>
            <a:r>
              <a:rPr lang="it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749325" y="2988525"/>
            <a:ext cx="4394700" cy="1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Risultato della ricerca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Miglior configurazione: C = 0.1, kernel = 'linear'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Best validation accuracy (media CV): </a:t>
            </a:r>
            <a:r>
              <a:rPr b="1" lang="it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36.7%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Accuracy su validation set reale: </a:t>
            </a:r>
            <a:r>
              <a:rPr b="1" lang="it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37.5%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it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F1-score su validation: </a:t>
            </a:r>
            <a:r>
              <a:rPr b="1" lang="it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37.5%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ctrTitle"/>
          </p:nvPr>
        </p:nvSpPr>
        <p:spPr>
          <a:xfrm>
            <a:off x="2821325" y="204275"/>
            <a:ext cx="33693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RISULTATI FINALI SUL TEST SET</a:t>
            </a:r>
            <a:endParaRPr b="1" sz="4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 txBox="1"/>
          <p:nvPr>
            <p:ph idx="1" type="subTitle"/>
          </p:nvPr>
        </p:nvSpPr>
        <p:spPr>
          <a:xfrm>
            <a:off x="513125" y="714950"/>
            <a:ext cx="7985700" cy="3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 modello finale (SVM lineare con </a:t>
            </a:r>
            <a:r>
              <a:rPr lang="it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C=0.1</a:t>
            </a:r>
            <a:r>
              <a:rPr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è stato allenato su tutto il dataset (train + validation).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È stato testato sul test set ufficiale di CIFAR-10 (10.000 immagini mai viste).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Risultati ottenuti: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Accuracy:</a:t>
            </a:r>
            <a:r>
              <a:rPr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41.0%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F1-score macro:</a:t>
            </a:r>
            <a:r>
              <a:rPr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40.9%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 più difficili:</a:t>
            </a:r>
            <a:r>
              <a:rPr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bird, cat, deer, dog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Classe più semplice:</a:t>
            </a:r>
            <a:r>
              <a:rPr lang="i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ship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ctrTitle"/>
          </p:nvPr>
        </p:nvSpPr>
        <p:spPr>
          <a:xfrm>
            <a:off x="2535575" y="67625"/>
            <a:ext cx="3940800" cy="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latin typeface="Calibri"/>
                <a:ea typeface="Calibri"/>
                <a:cs typeface="Calibri"/>
                <a:sym typeface="Calibri"/>
              </a:rPr>
              <a:t>ESEMPIO DI ERRORE DEL MODELLO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510475" y="822475"/>
            <a:ext cx="7581000" cy="7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 seguito è mostrata un’immagine del test set che il modello ha classificato erroneamente.</a:t>
            </a:r>
            <a:endParaRPr sz="1800"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350" y="1513425"/>
            <a:ext cx="3727251" cy="32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